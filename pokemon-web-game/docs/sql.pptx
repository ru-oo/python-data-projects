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9" r:id="rId9"/>
    <p:sldId id="268" r:id="rId10"/>
    <p:sldId id="267" r:id="rId11"/>
    <p:sldId id="263" r:id="rId12"/>
    <p:sldId id="266" r:id="rId13"/>
    <p:sldId id="265" r:id="rId14"/>
  </p:sldIdLst>
  <p:sldSz cx="12192000" cy="6858000"/>
  <p:notesSz cx="6858000" cy="9144000"/>
  <p:embeddedFontLst>
    <p:embeddedFont>
      <p:font typeface="Noto Sans KR" panose="020B0200000000000000" pitchFamily="50" charset="-127"/>
      <p:regular r:id="rId16"/>
      <p:bold r:id="rId17"/>
    </p:embeddedFont>
    <p:embeddedFont>
      <p:font typeface="Noto Sans KR Black" panose="020B0200000000000000" pitchFamily="50" charset="-127"/>
      <p:bold r:id="rId18"/>
    </p:embeddedFont>
    <p:embeddedFont>
      <p:font typeface="Afacad Flux" panose="020B0600000101010101" charset="0"/>
      <p:regular r:id="rId19"/>
      <p:bold r:id="rId20"/>
    </p:embeddedFont>
    <p:embeddedFont>
      <p:font typeface="Afacad Flux SemiBold" panose="020B0600000101010101" charset="0"/>
      <p:regular r:id="rId21"/>
      <p:bold r:id="rId22"/>
    </p:embeddedFont>
    <p:embeddedFont>
      <p:font typeface="Comfortaa" panose="020B0600000101010101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4B73F1-6FB2-40AD-822F-EDC82366F93A}" v="28" dt="2026-01-30T05:16:05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52" y="6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4FD25D0-6810-CC82-BAAB-4E9DE4EB2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>
            <a:extLst>
              <a:ext uri="{FF2B5EF4-FFF2-40B4-BE49-F238E27FC236}">
                <a16:creationId xmlns:a16="http://schemas.microsoft.com/office/drawing/2014/main" id="{6335C520-734D-7B6B-091F-39EEC1D2DB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>
            <a:extLst>
              <a:ext uri="{FF2B5EF4-FFF2-40B4-BE49-F238E27FC236}">
                <a16:creationId xmlns:a16="http://schemas.microsoft.com/office/drawing/2014/main" id="{549CD017-C54C-6E6C-A967-EDDBEEFEAD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4318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74469D80-8BD4-828B-B60E-A2B2C38CD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>
            <a:extLst>
              <a:ext uri="{FF2B5EF4-FFF2-40B4-BE49-F238E27FC236}">
                <a16:creationId xmlns:a16="http://schemas.microsoft.com/office/drawing/2014/main" id="{1EA49B8D-2B52-285C-FF3E-B63044FA2D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:notes">
            <a:extLst>
              <a:ext uri="{FF2B5EF4-FFF2-40B4-BE49-F238E27FC236}">
                <a16:creationId xmlns:a16="http://schemas.microsoft.com/office/drawing/2014/main" id="{997A47A5-D3F3-6A41-5818-1924589FA9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7108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36D29049-0E1A-42D3-6665-6F5EC0555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>
            <a:extLst>
              <a:ext uri="{FF2B5EF4-FFF2-40B4-BE49-F238E27FC236}">
                <a16:creationId xmlns:a16="http://schemas.microsoft.com/office/drawing/2014/main" id="{7A7D4C60-F0FF-CCEB-D625-1AA17485B6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:notes">
            <a:extLst>
              <a:ext uri="{FF2B5EF4-FFF2-40B4-BE49-F238E27FC236}">
                <a16:creationId xmlns:a16="http://schemas.microsoft.com/office/drawing/2014/main" id="{53CD10B5-CD5A-B91D-391F-5B0BEEFAC7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28176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3EE93DE1-73FC-D630-A2CC-B0C5E7CA3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>
            <a:extLst>
              <a:ext uri="{FF2B5EF4-FFF2-40B4-BE49-F238E27FC236}">
                <a16:creationId xmlns:a16="http://schemas.microsoft.com/office/drawing/2014/main" id="{0713B10B-D37C-E843-E5D8-601422D45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>
            <a:extLst>
              <a:ext uri="{FF2B5EF4-FFF2-40B4-BE49-F238E27FC236}">
                <a16:creationId xmlns:a16="http://schemas.microsoft.com/office/drawing/2014/main" id="{83A453D0-909E-6264-E216-8EDE4B66A7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41714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00362" y="1599604"/>
            <a:ext cx="6391275" cy="365864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340655" y="2676971"/>
            <a:ext cx="551068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mfortaa"/>
                <a:sym typeface="Comfortaa"/>
              </a:rPr>
              <a:t>Project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mfortaa"/>
                <a:sym typeface="Comfortaa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mfortaa"/>
                <a:sym typeface="Comfortaa"/>
              </a:rPr>
              <a:t>Pokemon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340655" y="3561889"/>
            <a:ext cx="52482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561332"/>
            <a:ext cx="552450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61332"/>
            <a:ext cx="552450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71525" y="3218557"/>
            <a:ext cx="498062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EF4444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The Concept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771525" y="3875782"/>
            <a:ext cx="47434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DB</a:t>
            </a:r>
            <a:r>
              <a:rPr lang="ko-KR" altLang="en-US" dirty="0"/>
              <a:t>를 이용한 간단한 포켓몬 게임 구현</a:t>
            </a:r>
            <a:endParaRPr lang="en-US" altLang="ko-KR"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6677025" y="3218557"/>
            <a:ext cx="498062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EF4444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The Goal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6677025" y="3875782"/>
            <a:ext cx="4743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dirty="0"/>
              <a:t>사용자 입력과 그에 따른 </a:t>
            </a:r>
            <a:r>
              <a:rPr lang="en-US" altLang="ko-KR" dirty="0"/>
              <a:t>DB </a:t>
            </a:r>
            <a:r>
              <a:rPr lang="ko-KR" altLang="en-US" dirty="0"/>
              <a:t>연동</a:t>
            </a:r>
            <a:endParaRPr lang="en-US" altLang="ko-KR" dirty="0"/>
          </a:p>
          <a:p>
            <a:pPr lvl="0">
              <a:lnSpc>
                <a:spcPct val="150000"/>
              </a:lnSpc>
            </a:pPr>
            <a:r>
              <a:rPr lang="en-US" altLang="ko-KR" dirty="0"/>
              <a:t>Html</a:t>
            </a:r>
            <a:r>
              <a:rPr lang="ko-KR" altLang="en-US" dirty="0"/>
              <a:t>을 이용한 웹 기반 게임 구현</a:t>
            </a:r>
            <a:endParaRPr lang="en-US" altLang="ko-KR" dirty="0"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3256657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3256657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381000" y="760362"/>
            <a:ext cx="11811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mfortaa"/>
                <a:sym typeface="Comfortaa"/>
              </a:rPr>
              <a:t>Project Overview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381000" y="1408062"/>
            <a:ext cx="11430000" cy="285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2643068" y="2667000"/>
            <a:ext cx="690586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mfortaa"/>
                <a:sym typeface="Comfortaa"/>
              </a:rPr>
              <a:t>1. The Pokémon DB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313682"/>
            <a:ext cx="3619500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0" y="2313682"/>
            <a:ext cx="3619500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313682"/>
            <a:ext cx="3619500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261848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610552" y="3647182"/>
            <a:ext cx="316039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00" b="0" i="0" u="none" strike="noStrike" cap="none" dirty="0">
                <a:solidFill>
                  <a:srgbClr val="EF444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Afacad Flux SemiBold"/>
                <a:sym typeface="Afacad Flux SemiBold"/>
              </a:rPr>
              <a:t>포켓몬 정보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685800" y="4209157"/>
            <a:ext cx="300990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포켓몬 체력</a:t>
            </a:r>
            <a:r>
              <a:rPr lang="en-US" altLang="ko-KR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, </a:t>
            </a: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공격력</a:t>
            </a:r>
            <a:r>
              <a:rPr lang="en-US" altLang="ko-KR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, </a:t>
            </a: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방어력</a:t>
            </a:r>
            <a:r>
              <a:rPr lang="en-US" altLang="ko-KR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, </a:t>
            </a: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특성</a:t>
            </a:r>
            <a:r>
              <a:rPr lang="en-US" altLang="ko-KR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, </a:t>
            </a: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기술 등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9" name="Google Shape;13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0" y="261848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4515802" y="3647182"/>
            <a:ext cx="316039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00" b="0" i="0" u="none" strike="noStrike" cap="none" dirty="0">
                <a:solidFill>
                  <a:srgbClr val="EF444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Afacad Flux SemiBold"/>
                <a:sym typeface="Afacad Flux SemiBold"/>
              </a:rPr>
              <a:t>동적 데이터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4591050" y="4209157"/>
            <a:ext cx="300990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Afacad Flux"/>
                <a:ea typeface="Noto Sans KR" panose="020B0200000000000000" pitchFamily="50" charset="-127"/>
                <a:cs typeface="Afacad Flux"/>
                <a:sym typeface="Afacad Flux"/>
              </a:rPr>
              <a:t>배틀 시 포켓몬 체력</a:t>
            </a:r>
            <a:r>
              <a:rPr lang="en-US" altLang="ko-KR" sz="1650" b="0" i="0" u="none" strike="noStrike" cap="none" dirty="0">
                <a:solidFill>
                  <a:srgbClr val="475569"/>
                </a:solidFill>
                <a:latin typeface="Afacad Flux"/>
                <a:ea typeface="Noto Sans KR" panose="020B0200000000000000" pitchFamily="50" charset="-127"/>
                <a:cs typeface="Afacad Flux"/>
                <a:sym typeface="Afacad Flux"/>
              </a:rPr>
              <a:t>, </a:t>
            </a: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Afacad Flux"/>
                <a:ea typeface="Noto Sans KR" panose="020B0200000000000000" pitchFamily="50" charset="-127"/>
                <a:cs typeface="Afacad Flux"/>
                <a:sym typeface="Afacad Flux"/>
              </a:rPr>
              <a:t>머니</a:t>
            </a:r>
            <a:r>
              <a:rPr lang="en-US" altLang="ko-KR" sz="1650" b="0" i="0" u="none" strike="noStrike" cap="none" dirty="0">
                <a:solidFill>
                  <a:srgbClr val="475569"/>
                </a:solidFill>
                <a:latin typeface="Afacad Flux"/>
                <a:ea typeface="Noto Sans KR" panose="020B0200000000000000" pitchFamily="50" charset="-127"/>
                <a:cs typeface="Afacad Flux"/>
                <a:sym typeface="Afacad Flux"/>
              </a:rPr>
              <a:t>, </a:t>
            </a: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Afacad Flux"/>
                <a:ea typeface="Noto Sans KR" panose="020B0200000000000000" pitchFamily="50" charset="-127"/>
                <a:cs typeface="Afacad Flux"/>
                <a:sym typeface="Afacad Flux"/>
              </a:rPr>
              <a:t>포켓몬 도감 등</a:t>
            </a:r>
            <a:endParaRPr dirty="0"/>
          </a:p>
        </p:txBody>
      </p:sp>
      <p:pic>
        <p:nvPicPr>
          <p:cNvPr id="142" name="Google Shape;14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0250" y="261848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8421052" y="3647182"/>
            <a:ext cx="316039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00" dirty="0">
                <a:solidFill>
                  <a:srgbClr val="EF444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Afacad Flux SemiBold"/>
                <a:sym typeface="Afacad Flux SemiBold"/>
              </a:rPr>
              <a:t>사용자 데이터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8496300" y="4209157"/>
            <a:ext cx="30099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사용자 이름</a:t>
            </a:r>
            <a:r>
              <a:rPr lang="en-US" altLang="ko-KR" sz="165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, </a:t>
            </a:r>
            <a:r>
              <a:rPr lang="ko-KR" altLang="en-US" sz="165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사용자 머니 등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45" name="Google Shape;145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62150" y="275183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95975" y="275183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715500" y="275183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381000" y="760362"/>
            <a:ext cx="11811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1" dirty="0">
                <a:solidFill>
                  <a:srgbClr val="1E293B"/>
                </a:solidFill>
                <a:latin typeface="Comfortaa" panose="020B0600000101010101" charset="0"/>
                <a:sym typeface="Comfortaa"/>
              </a:rPr>
              <a:t>데이터 구성</a:t>
            </a:r>
            <a:endParaRPr dirty="0">
              <a:latin typeface="Comfortaa" panose="020B0600000101010101" charset="0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381000" y="1408062"/>
            <a:ext cx="11430000" cy="285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07;p15" descr="image.png">
            <a:extLst>
              <a:ext uri="{FF2B5EF4-FFF2-40B4-BE49-F238E27FC236}">
                <a16:creationId xmlns:a16="http://schemas.microsoft.com/office/drawing/2014/main" id="{1CF8C01E-C2B4-AD09-F234-A5BA8451744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42244"/>
            <a:ext cx="5429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381000" y="760362"/>
            <a:ext cx="11811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mfortaa"/>
                <a:sym typeface="Comfortaa"/>
              </a:rPr>
              <a:t>ERD(Entity Relationship Diagram)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381000" y="1408062"/>
            <a:ext cx="11430000" cy="285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그림 5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F0D13A-EC58-EEC2-E737-E08F7FA1DC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3984" y="1469903"/>
            <a:ext cx="7992534" cy="53548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1527929" y="2667000"/>
            <a:ext cx="913614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mfortaa"/>
                <a:sym typeface="Comfortaa"/>
              </a:rPr>
              <a:t>2. </a:t>
            </a:r>
            <a:r>
              <a:rPr lang="ko-KR" altLang="en-US" sz="5400" b="1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mfortaa"/>
                <a:sym typeface="Comfortaa"/>
              </a:rPr>
              <a:t>구현 기능</a:t>
            </a:r>
            <a:r>
              <a:rPr lang="en-US" sz="5400" b="1" i="0" u="none" strike="noStrike" cap="none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mfortaa"/>
                <a:sym typeface="Comfortaa"/>
              </a:rPr>
              <a:t> 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381000" y="2373525"/>
            <a:ext cx="575071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00" b="0" i="0" u="none" strike="noStrike" cap="none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 SemiBold"/>
                <a:sym typeface="Afacad Flux SemiBold"/>
              </a:rPr>
              <a:t>유저 생성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381000" y="760362"/>
            <a:ext cx="11811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1" i="0" u="none" strike="noStrike" cap="none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mfortaa"/>
                <a:sym typeface="Comfortaa"/>
              </a:rPr>
              <a:t>사용자 저장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381000" y="1408062"/>
            <a:ext cx="11430000" cy="285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65;p19">
            <a:extLst>
              <a:ext uri="{FF2B5EF4-FFF2-40B4-BE49-F238E27FC236}">
                <a16:creationId xmlns:a16="http://schemas.microsoft.com/office/drawing/2014/main" id="{AA765A60-6A3A-EF1B-E6F8-9E0A4EBB55C9}"/>
              </a:ext>
            </a:extLst>
          </p:cNvPr>
          <p:cNvSpPr txBox="1"/>
          <p:nvPr/>
        </p:nvSpPr>
        <p:spPr>
          <a:xfrm>
            <a:off x="381000" y="3118544"/>
            <a:ext cx="5476875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5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새 게임 클릭 시 유저 생성</a:t>
            </a:r>
            <a:endParaRPr lang="ko-KR" alt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 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Google Shape;165;p19">
            <a:extLst>
              <a:ext uri="{FF2B5EF4-FFF2-40B4-BE49-F238E27FC236}">
                <a16:creationId xmlns:a16="http://schemas.microsoft.com/office/drawing/2014/main" id="{A1BFAF73-0703-32A7-92DC-33A32CC777EE}"/>
              </a:ext>
            </a:extLst>
          </p:cNvPr>
          <p:cNvSpPr txBox="1"/>
          <p:nvPr/>
        </p:nvSpPr>
        <p:spPr>
          <a:xfrm>
            <a:off x="380999" y="3499417"/>
            <a:ext cx="547687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유저 생성 시 </a:t>
            </a:r>
            <a:r>
              <a:rPr lang="en-US" altLang="ko-KR" sz="165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users </a:t>
            </a:r>
            <a:r>
              <a:rPr lang="ko-KR" altLang="en-US" sz="165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테이블에 유저 정보 저장 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그림 8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CCEFF4-4598-2813-1AD1-8C207D771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149" y="2147753"/>
            <a:ext cx="3664138" cy="3473629"/>
          </a:xfrm>
          <a:prstGeom prst="rect">
            <a:avLst/>
          </a:prstGeom>
        </p:spPr>
      </p:pic>
      <p:pic>
        <p:nvPicPr>
          <p:cNvPr id="11" name="그림 10" descr="텍스트, 스크린샷, 멀티미디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296984-36EB-722D-7976-3AF7E25EA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287" y="2173154"/>
            <a:ext cx="3626036" cy="3435527"/>
          </a:xfrm>
          <a:prstGeom prst="rect">
            <a:avLst/>
          </a:prstGeom>
        </p:spPr>
      </p:pic>
      <p:pic>
        <p:nvPicPr>
          <p:cNvPr id="14" name="그림 1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C82E13-1840-2714-E347-AED2617F8E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799" y="4012633"/>
            <a:ext cx="3962518" cy="22950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5A77B214-5B04-9869-34C7-14F95296D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0" descr="image.png">
            <a:extLst>
              <a:ext uri="{FF2B5EF4-FFF2-40B4-BE49-F238E27FC236}">
                <a16:creationId xmlns:a16="http://schemas.microsoft.com/office/drawing/2014/main" id="{BFE9A8C2-FFAF-A73D-A97A-3D70BA4F31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88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>
            <a:extLst>
              <a:ext uri="{FF2B5EF4-FFF2-40B4-BE49-F238E27FC236}">
                <a16:creationId xmlns:a16="http://schemas.microsoft.com/office/drawing/2014/main" id="{20701FB6-31FD-7EAF-8B07-2B25AF55FD22}"/>
              </a:ext>
            </a:extLst>
          </p:cNvPr>
          <p:cNvSpPr txBox="1"/>
          <p:nvPr/>
        </p:nvSpPr>
        <p:spPr>
          <a:xfrm>
            <a:off x="571500" y="1141362"/>
            <a:ext cx="5200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1" i="0" u="none" strike="noStrike" cap="none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mfortaa"/>
                <a:sym typeface="Comfortaa"/>
              </a:rPr>
              <a:t>사용자 불러오기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6" name="Google Shape;176;p20">
            <a:extLst>
              <a:ext uri="{FF2B5EF4-FFF2-40B4-BE49-F238E27FC236}">
                <a16:creationId xmlns:a16="http://schemas.microsoft.com/office/drawing/2014/main" id="{9302D3C6-3A48-EFE4-71DE-3D9676852C65}"/>
              </a:ext>
            </a:extLst>
          </p:cNvPr>
          <p:cNvSpPr/>
          <p:nvPr/>
        </p:nvSpPr>
        <p:spPr>
          <a:xfrm>
            <a:off x="571500" y="1789062"/>
            <a:ext cx="4953000" cy="285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>
            <a:extLst>
              <a:ext uri="{FF2B5EF4-FFF2-40B4-BE49-F238E27FC236}">
                <a16:creationId xmlns:a16="http://schemas.microsoft.com/office/drawing/2014/main" id="{37BD5D1B-B808-6BCA-4DEF-96EAF8649924}"/>
              </a:ext>
            </a:extLst>
          </p:cNvPr>
          <p:cNvSpPr txBox="1"/>
          <p:nvPr/>
        </p:nvSpPr>
        <p:spPr>
          <a:xfrm>
            <a:off x="571500" y="2465337"/>
            <a:ext cx="52006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00" b="0" i="0" u="none" strike="noStrike" cap="none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 SemiBold"/>
                <a:sym typeface="Afacad Flux SemiBold"/>
              </a:rPr>
              <a:t>기존 유저 </a:t>
            </a:r>
            <a:r>
              <a:rPr lang="ko-KR" altLang="en-US" sz="2100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 SemiBold"/>
                <a:sym typeface="Afacad Flux SemiBold"/>
              </a:rPr>
              <a:t>정보 관리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8" name="Google Shape;178;p20">
            <a:extLst>
              <a:ext uri="{FF2B5EF4-FFF2-40B4-BE49-F238E27FC236}">
                <a16:creationId xmlns:a16="http://schemas.microsoft.com/office/drawing/2014/main" id="{7B4FCAA6-F3B7-7823-55F4-AA48B3D25071}"/>
              </a:ext>
            </a:extLst>
          </p:cNvPr>
          <p:cNvSpPr txBox="1"/>
          <p:nvPr/>
        </p:nvSpPr>
        <p:spPr>
          <a:xfrm>
            <a:off x="571499" y="3122562"/>
            <a:ext cx="6167967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65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u</a:t>
            </a:r>
            <a:r>
              <a:rPr lang="en-US" altLang="ko-KR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sers </a:t>
            </a: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테이블에 기존의 유저 정보를 저장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9" name="Google Shape;179;p20">
            <a:extLst>
              <a:ext uri="{FF2B5EF4-FFF2-40B4-BE49-F238E27FC236}">
                <a16:creationId xmlns:a16="http://schemas.microsoft.com/office/drawing/2014/main" id="{9CE8925A-D28D-1CFF-DDDE-F976553B495D}"/>
              </a:ext>
            </a:extLst>
          </p:cNvPr>
          <p:cNvSpPr txBox="1"/>
          <p:nvPr/>
        </p:nvSpPr>
        <p:spPr>
          <a:xfrm>
            <a:off x="571499" y="3455252"/>
            <a:ext cx="6040967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기존 유저 정보를 가져와서 그대로 다시 게임 플레이 가능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42ACEE-E24B-FC29-0227-36EBB4E70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107" y="14003"/>
            <a:ext cx="3767760" cy="690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24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>
          <a:extLst>
            <a:ext uri="{FF2B5EF4-FFF2-40B4-BE49-F238E27FC236}">
              <a16:creationId xmlns:a16="http://schemas.microsoft.com/office/drawing/2014/main" id="{BA35E871-9C24-25AD-9AF7-4E593DBA8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9" descr="image.png">
            <a:extLst>
              <a:ext uri="{FF2B5EF4-FFF2-40B4-BE49-F238E27FC236}">
                <a16:creationId xmlns:a16="http://schemas.microsoft.com/office/drawing/2014/main" id="{4C6079FB-BE06-430E-DB6B-D9F63012A9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>
            <a:extLst>
              <a:ext uri="{FF2B5EF4-FFF2-40B4-BE49-F238E27FC236}">
                <a16:creationId xmlns:a16="http://schemas.microsoft.com/office/drawing/2014/main" id="{0AC1B9B2-E138-3816-EE36-8A6EB5E759EE}"/>
              </a:ext>
            </a:extLst>
          </p:cNvPr>
          <p:cNvSpPr txBox="1"/>
          <p:nvPr/>
        </p:nvSpPr>
        <p:spPr>
          <a:xfrm>
            <a:off x="381000" y="2373525"/>
            <a:ext cx="575071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00" b="0" i="0" u="none" strike="noStrike" cap="none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 SemiBold"/>
                <a:sym typeface="Afacad Flux SemiBold"/>
              </a:rPr>
              <a:t>포획 및 목격한 포켓몬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8" name="Google Shape;168;p19">
            <a:extLst>
              <a:ext uri="{FF2B5EF4-FFF2-40B4-BE49-F238E27FC236}">
                <a16:creationId xmlns:a16="http://schemas.microsoft.com/office/drawing/2014/main" id="{75282CBC-0033-EA66-5750-710CF500F54F}"/>
              </a:ext>
            </a:extLst>
          </p:cNvPr>
          <p:cNvSpPr txBox="1"/>
          <p:nvPr/>
        </p:nvSpPr>
        <p:spPr>
          <a:xfrm>
            <a:off x="381000" y="760362"/>
            <a:ext cx="11811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1" i="0" u="none" strike="noStrike" cap="none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mfortaa"/>
                <a:sym typeface="Comfortaa"/>
              </a:rPr>
              <a:t>포켓몬 도감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96C275A-ED75-F9D9-CC10-48F912E47130}"/>
              </a:ext>
            </a:extLst>
          </p:cNvPr>
          <p:cNvSpPr/>
          <p:nvPr/>
        </p:nvSpPr>
        <p:spPr>
          <a:xfrm>
            <a:off x="381000" y="1408062"/>
            <a:ext cx="11430000" cy="285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E826FE-75E8-BC04-A4CE-557A0B959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228" y="2945174"/>
            <a:ext cx="4532105" cy="3852509"/>
          </a:xfrm>
          <a:prstGeom prst="rect">
            <a:avLst/>
          </a:prstGeom>
        </p:spPr>
      </p:pic>
      <p:sp>
        <p:nvSpPr>
          <p:cNvPr id="4" name="Google Shape;165;p19">
            <a:extLst>
              <a:ext uri="{FF2B5EF4-FFF2-40B4-BE49-F238E27FC236}">
                <a16:creationId xmlns:a16="http://schemas.microsoft.com/office/drawing/2014/main" id="{D60E480E-4ABC-633A-F54E-7576D83CFA96}"/>
              </a:ext>
            </a:extLst>
          </p:cNvPr>
          <p:cNvSpPr txBox="1"/>
          <p:nvPr/>
        </p:nvSpPr>
        <p:spPr>
          <a:xfrm>
            <a:off x="381000" y="3118544"/>
            <a:ext cx="5476875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5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포획 및 </a:t>
            </a:r>
            <a:r>
              <a:rPr lang="ko-KR" altLang="en-US" sz="1650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목격시</a:t>
            </a:r>
            <a:r>
              <a:rPr lang="ko-KR" altLang="en-US" sz="165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 </a:t>
            </a:r>
            <a:r>
              <a:rPr lang="en-US" altLang="ko-KR" sz="1650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pokedex_progress</a:t>
            </a:r>
            <a:r>
              <a:rPr lang="ko-KR" altLang="en-US" sz="165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 테이블에 저장되도록 구현</a:t>
            </a:r>
            <a:endParaRPr lang="ko-KR" alt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 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" name="그림 5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35A1F8-F6A5-B47F-5EBE-0CF8569F55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228" y="1524720"/>
            <a:ext cx="6267772" cy="1466925"/>
          </a:xfrm>
          <a:prstGeom prst="rect">
            <a:avLst/>
          </a:prstGeom>
        </p:spPr>
      </p:pic>
      <p:sp>
        <p:nvSpPr>
          <p:cNvPr id="7" name="Google Shape;165;p19">
            <a:extLst>
              <a:ext uri="{FF2B5EF4-FFF2-40B4-BE49-F238E27FC236}">
                <a16:creationId xmlns:a16="http://schemas.microsoft.com/office/drawing/2014/main" id="{F28BBC43-E56D-C1B8-B0BC-C24E44F69904}"/>
              </a:ext>
            </a:extLst>
          </p:cNvPr>
          <p:cNvSpPr txBox="1"/>
          <p:nvPr/>
        </p:nvSpPr>
        <p:spPr>
          <a:xfrm>
            <a:off x="380999" y="3499417"/>
            <a:ext cx="547687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포획 시 </a:t>
            </a:r>
            <a:r>
              <a:rPr lang="en-US" altLang="ko-KR" sz="1650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my_pokemon</a:t>
            </a:r>
            <a:r>
              <a:rPr lang="en-US" altLang="ko-KR" sz="165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 </a:t>
            </a:r>
            <a:r>
              <a:rPr lang="ko-KR" altLang="en-US" sz="165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테이블에 포켓몬 정보 저장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6702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>
          <a:extLst>
            <a:ext uri="{FF2B5EF4-FFF2-40B4-BE49-F238E27FC236}">
              <a16:creationId xmlns:a16="http://schemas.microsoft.com/office/drawing/2014/main" id="{7778B508-63D5-972F-AA7A-3282557D0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9" descr="image.png">
            <a:extLst>
              <a:ext uri="{FF2B5EF4-FFF2-40B4-BE49-F238E27FC236}">
                <a16:creationId xmlns:a16="http://schemas.microsoft.com/office/drawing/2014/main" id="{D9B2423F-16B4-09C6-9BD8-2667310272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>
            <a:extLst>
              <a:ext uri="{FF2B5EF4-FFF2-40B4-BE49-F238E27FC236}">
                <a16:creationId xmlns:a16="http://schemas.microsoft.com/office/drawing/2014/main" id="{3BF40A08-B5D6-ECD8-2D40-E92F981FB173}"/>
              </a:ext>
            </a:extLst>
          </p:cNvPr>
          <p:cNvSpPr txBox="1"/>
          <p:nvPr/>
        </p:nvSpPr>
        <p:spPr>
          <a:xfrm>
            <a:off x="381000" y="3118544"/>
            <a:ext cx="547687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이름</a:t>
            </a:r>
            <a:r>
              <a:rPr lang="en-US" altLang="ko-KR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, </a:t>
            </a: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타입</a:t>
            </a:r>
            <a:r>
              <a:rPr lang="en-US" altLang="ko-KR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, </a:t>
            </a:r>
            <a:r>
              <a:rPr lang="ko-KR" altLang="en-US" sz="1650" b="0" i="0" u="none" strike="noStrike" cap="none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스탯</a:t>
            </a: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 등을 지정 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8" name="Google Shape;168;p19">
            <a:extLst>
              <a:ext uri="{FF2B5EF4-FFF2-40B4-BE49-F238E27FC236}">
                <a16:creationId xmlns:a16="http://schemas.microsoft.com/office/drawing/2014/main" id="{1775C75C-D04E-D0A5-2550-AACD2C943C1B}"/>
              </a:ext>
            </a:extLst>
          </p:cNvPr>
          <p:cNvSpPr txBox="1"/>
          <p:nvPr/>
        </p:nvSpPr>
        <p:spPr>
          <a:xfrm>
            <a:off x="381000" y="760362"/>
            <a:ext cx="11811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1" i="0" u="none" strike="noStrike" cap="none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mfortaa"/>
                <a:sym typeface="Comfortaa"/>
              </a:rPr>
              <a:t>커스텀 포켓몬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A09B2499-74E3-9950-0BF7-0AA7C2525491}"/>
              </a:ext>
            </a:extLst>
          </p:cNvPr>
          <p:cNvSpPr/>
          <p:nvPr/>
        </p:nvSpPr>
        <p:spPr>
          <a:xfrm>
            <a:off x="381000" y="1408062"/>
            <a:ext cx="11430000" cy="285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64;p19">
            <a:extLst>
              <a:ext uri="{FF2B5EF4-FFF2-40B4-BE49-F238E27FC236}">
                <a16:creationId xmlns:a16="http://schemas.microsoft.com/office/drawing/2014/main" id="{873C5DDE-7BAD-60B6-E087-5448FE296602}"/>
              </a:ext>
            </a:extLst>
          </p:cNvPr>
          <p:cNvSpPr txBox="1"/>
          <p:nvPr/>
        </p:nvSpPr>
        <p:spPr>
          <a:xfrm>
            <a:off x="381000" y="2373525"/>
            <a:ext cx="575071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100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 SemiBold"/>
                <a:sym typeface="Afacad Flux SemiBold"/>
              </a:rPr>
              <a:t>나만의 포켓몬 생성</a:t>
            </a:r>
            <a:endParaRPr lang="ko-KR" alt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" name="그림 4" descr="텍스트, 스크린샷, 멀티미디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95AB5A-6C1F-11E5-0135-B2499174C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104" y="1741562"/>
            <a:ext cx="4874229" cy="4622114"/>
          </a:xfrm>
          <a:prstGeom prst="rect">
            <a:avLst/>
          </a:prstGeom>
        </p:spPr>
      </p:pic>
      <p:sp>
        <p:nvSpPr>
          <p:cNvPr id="6" name="Google Shape;165;p19">
            <a:extLst>
              <a:ext uri="{FF2B5EF4-FFF2-40B4-BE49-F238E27FC236}">
                <a16:creationId xmlns:a16="http://schemas.microsoft.com/office/drawing/2014/main" id="{EF3F7525-11DD-6A44-6A06-130A62EF86F6}"/>
              </a:ext>
            </a:extLst>
          </p:cNvPr>
          <p:cNvSpPr txBox="1"/>
          <p:nvPr/>
        </p:nvSpPr>
        <p:spPr>
          <a:xfrm>
            <a:off x="380999" y="3499417"/>
            <a:ext cx="547687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생성 시 </a:t>
            </a:r>
            <a:r>
              <a:rPr lang="en-US" altLang="ko-KR" sz="1650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my_pokemon</a:t>
            </a:r>
            <a:r>
              <a:rPr lang="en-US" altLang="ko-KR" sz="165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 </a:t>
            </a:r>
            <a:r>
              <a:rPr lang="ko-KR" altLang="en-US" sz="165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테이블에 포켓몬 정보 저장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7172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788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571500" y="1141362"/>
            <a:ext cx="5200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1" i="0" u="none" strike="noStrike" cap="none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mfortaa"/>
                <a:sym typeface="Comfortaa"/>
              </a:rPr>
              <a:t>포켓몬 배틀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71500" y="1789062"/>
            <a:ext cx="4953000" cy="285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571500" y="2465337"/>
            <a:ext cx="52006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00" b="0" i="0" u="none" strike="noStrike" cap="none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 SemiBold"/>
                <a:sym typeface="Afacad Flux SemiBold"/>
              </a:rPr>
              <a:t>실시간 체력 계산 반영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71499" y="3122562"/>
            <a:ext cx="6167967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내 포켓몬 </a:t>
            </a:r>
            <a:r>
              <a:rPr lang="en-US" altLang="ko-KR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– </a:t>
            </a:r>
            <a:r>
              <a:rPr lang="en-US" altLang="ko-KR" sz="1650" b="0" i="0" u="none" strike="noStrike" cap="none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my_pokemon</a:t>
            </a:r>
            <a:r>
              <a:rPr lang="en-US" altLang="ko-KR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 </a:t>
            </a: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테이블의 </a:t>
            </a:r>
            <a:r>
              <a:rPr lang="en-US" altLang="ko-KR" sz="1650" b="0" i="0" u="none" strike="noStrike" cap="none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current_hp</a:t>
            </a:r>
            <a:r>
              <a:rPr lang="en-US" altLang="ko-KR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 </a:t>
            </a: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열에 체력 반영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71499" y="3455252"/>
            <a:ext cx="6040967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상대 포켓몬 </a:t>
            </a:r>
            <a:r>
              <a:rPr lang="en-US" altLang="ko-KR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– </a:t>
            </a:r>
            <a:r>
              <a:rPr lang="en-US" altLang="ko-KR" sz="1650" b="0" i="0" u="none" strike="noStrike" cap="none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pokemon_full_info</a:t>
            </a:r>
            <a:r>
              <a:rPr lang="en-US" altLang="ko-KR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 </a:t>
            </a: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테이블에서 정보 가져옴  </a:t>
            </a:r>
            <a:r>
              <a:rPr lang="en-US" altLang="ko-KR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 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" name="그림 2" descr="텍스트, 스크린샷, 만화 영화, 경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9ABF0A1-3BFA-AF5A-2587-ABE6E8B1C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945" y="-903"/>
            <a:ext cx="3786960" cy="68510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02DA5D8D-E33C-60EF-67F8-777EC26BA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0" descr="image.png">
            <a:extLst>
              <a:ext uri="{FF2B5EF4-FFF2-40B4-BE49-F238E27FC236}">
                <a16:creationId xmlns:a16="http://schemas.microsoft.com/office/drawing/2014/main" id="{DCCE806E-4CDD-A6A6-858D-95E1949351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>
            <a:extLst>
              <a:ext uri="{FF2B5EF4-FFF2-40B4-BE49-F238E27FC236}">
                <a16:creationId xmlns:a16="http://schemas.microsoft.com/office/drawing/2014/main" id="{1F7A705D-6212-A871-30E3-30452CF40BC2}"/>
              </a:ext>
            </a:extLst>
          </p:cNvPr>
          <p:cNvSpPr txBox="1"/>
          <p:nvPr/>
        </p:nvSpPr>
        <p:spPr>
          <a:xfrm>
            <a:off x="571500" y="1141362"/>
            <a:ext cx="5200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1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Comfortaa"/>
              </a:rPr>
              <a:t>상점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6" name="Google Shape;176;p20">
            <a:extLst>
              <a:ext uri="{FF2B5EF4-FFF2-40B4-BE49-F238E27FC236}">
                <a16:creationId xmlns:a16="http://schemas.microsoft.com/office/drawing/2014/main" id="{780F9702-2B57-3B5F-8428-07CEE61A1B8A}"/>
              </a:ext>
            </a:extLst>
          </p:cNvPr>
          <p:cNvSpPr/>
          <p:nvPr/>
        </p:nvSpPr>
        <p:spPr>
          <a:xfrm>
            <a:off x="571500" y="1789062"/>
            <a:ext cx="4953000" cy="285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>
            <a:extLst>
              <a:ext uri="{FF2B5EF4-FFF2-40B4-BE49-F238E27FC236}">
                <a16:creationId xmlns:a16="http://schemas.microsoft.com/office/drawing/2014/main" id="{897468AD-89B9-462E-38CB-B8913DB4F028}"/>
              </a:ext>
            </a:extLst>
          </p:cNvPr>
          <p:cNvSpPr txBox="1"/>
          <p:nvPr/>
        </p:nvSpPr>
        <p:spPr>
          <a:xfrm>
            <a:off x="571500" y="2465337"/>
            <a:ext cx="52006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00" b="0" i="0" u="none" strike="noStrike" cap="none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 SemiBold"/>
                <a:sym typeface="Afacad Flux SemiBold"/>
              </a:rPr>
              <a:t>실시간 머니 및 내 아이템 항목 및 개수 반영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8" name="Google Shape;178;p20">
            <a:extLst>
              <a:ext uri="{FF2B5EF4-FFF2-40B4-BE49-F238E27FC236}">
                <a16:creationId xmlns:a16="http://schemas.microsoft.com/office/drawing/2014/main" id="{BCC65BBE-73B7-98CF-F18E-0B2E90534030}"/>
              </a:ext>
            </a:extLst>
          </p:cNvPr>
          <p:cNvSpPr txBox="1"/>
          <p:nvPr/>
        </p:nvSpPr>
        <p:spPr>
          <a:xfrm>
            <a:off x="571500" y="3122562"/>
            <a:ext cx="49530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Inventory</a:t>
            </a:r>
            <a:r>
              <a:rPr lang="ko-KR" altLang="en-US" sz="165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 테이블에 아이템 항목 및 개수 저장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" name="그림 2" descr="텍스트, 스크린샷, 멀티미디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620173-F50B-8B30-12B8-1D1D65E915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068" y="0"/>
            <a:ext cx="3882065" cy="6832178"/>
          </a:xfrm>
          <a:prstGeom prst="rect">
            <a:avLst/>
          </a:prstGeom>
        </p:spPr>
      </p:pic>
      <p:pic>
        <p:nvPicPr>
          <p:cNvPr id="5" name="그림 4" descr="텍스트, 폰트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EB0F87-DEEE-96E9-F924-37CBFE0A8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078" y="3935794"/>
            <a:ext cx="4705592" cy="882695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5A479C-DF38-B242-73B1-AF8BFF9F6F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873" y="4983417"/>
            <a:ext cx="2806844" cy="1625684"/>
          </a:xfrm>
          <a:prstGeom prst="rect">
            <a:avLst/>
          </a:prstGeom>
        </p:spPr>
      </p:pic>
      <p:sp>
        <p:nvSpPr>
          <p:cNvPr id="8" name="Google Shape;179;p20">
            <a:extLst>
              <a:ext uri="{FF2B5EF4-FFF2-40B4-BE49-F238E27FC236}">
                <a16:creationId xmlns:a16="http://schemas.microsoft.com/office/drawing/2014/main" id="{90DF25D9-71A7-36B0-673B-647AC7F1A929}"/>
              </a:ext>
            </a:extLst>
          </p:cNvPr>
          <p:cNvSpPr txBox="1"/>
          <p:nvPr/>
        </p:nvSpPr>
        <p:spPr>
          <a:xfrm>
            <a:off x="571499" y="3455252"/>
            <a:ext cx="6040967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User </a:t>
            </a: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테이블에 차감된 </a:t>
            </a:r>
            <a:r>
              <a:rPr lang="en-US" altLang="ko-KR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money </a:t>
            </a: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facad Flux"/>
                <a:sym typeface="Afacad Flux"/>
              </a:rPr>
              <a:t>반영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E7C9622-06DD-5785-8904-6CB228F84A8D}"/>
              </a:ext>
            </a:extLst>
          </p:cNvPr>
          <p:cNvCxnSpPr/>
          <p:nvPr/>
        </p:nvCxnSpPr>
        <p:spPr>
          <a:xfrm>
            <a:off x="914400" y="5782734"/>
            <a:ext cx="406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651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3980392" y="2554289"/>
            <a:ext cx="6060757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500" b="1" i="0" u="none" strike="noStrike" cap="none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mfortaa"/>
                <a:sym typeface="Comfortaa"/>
              </a:rPr>
              <a:t>감사합니다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219</Words>
  <Application>Microsoft Office PowerPoint</Application>
  <PresentationFormat>와이드스크린</PresentationFormat>
  <Paragraphs>46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Calibri</vt:lpstr>
      <vt:lpstr>Arial</vt:lpstr>
      <vt:lpstr>Noto Sans KR</vt:lpstr>
      <vt:lpstr>Noto Sans KR Black</vt:lpstr>
      <vt:lpstr>Afacad Flux</vt:lpstr>
      <vt:lpstr>Comfortaa</vt:lpstr>
      <vt:lpstr>Afacad Flux SemiBold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인우 이</cp:lastModifiedBy>
  <cp:revision>2</cp:revision>
  <dcterms:modified xsi:type="dcterms:W3CDTF">2026-01-30T05:40:40Z</dcterms:modified>
</cp:coreProperties>
</file>